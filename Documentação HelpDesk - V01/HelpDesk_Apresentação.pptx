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343" autoAdjust="0"/>
  </p:normalViewPr>
  <p:slideViewPr>
    <p:cSldViewPr snapToGrid="0" snapToObjects="1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7318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317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5650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34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B8CC9"/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5143500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194560" y="1188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HELPDESK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194560" y="1920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Demonstração </a:t>
            </a:r>
            <a:r>
              <a:rPr lang="en-US" sz="18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194560" y="2487168"/>
            <a:ext cx="6217920" cy="27432"/>
          </a:xfrm>
          <a:prstGeom prst="rect">
            <a:avLst/>
          </a:prstGeom>
          <a:solidFill>
            <a:srgbClr val="7B8CC9"/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94560" y="2651760"/>
            <a:ext cx="1920240" cy="347472"/>
          </a:xfrm>
          <a:prstGeom prst="rect">
            <a:avLst/>
          </a:prstGeom>
          <a:solidFill>
            <a:srgbClr val="4F5DA3">
              <a:alpha val="60000"/>
            </a:srgbClr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19456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651760"/>
            <a:ext cx="1920240" cy="347472"/>
          </a:xfrm>
          <a:prstGeom prst="rect">
            <a:avLst/>
          </a:prstGeom>
          <a:solidFill>
            <a:srgbClr val="4F5DA3">
              <a:alpha val="60000"/>
            </a:srgbClr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9768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10.4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651760"/>
            <a:ext cx="1920240" cy="347472"/>
          </a:xfrm>
          <a:prstGeom prst="rect">
            <a:avLst/>
          </a:prstGeom>
          <a:solidFill>
            <a:srgbClr val="4F5DA3">
              <a:alpha val="60000"/>
            </a:srgbClr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94560" y="3127248"/>
            <a:ext cx="1920240" cy="347472"/>
          </a:xfrm>
          <a:prstGeom prst="rect">
            <a:avLst/>
          </a:prstGeom>
          <a:solidFill>
            <a:srgbClr val="4F5DA3">
              <a:alpha val="60000"/>
            </a:srgbClr>
          </a:solidFill>
          <a:ln w="12700">
            <a:solidFill>
              <a:srgbClr val="7B8CC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94560" y="31272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-Fetch API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297680" y="31272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31272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AJAX: /ajax/abertura/listar.php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042416"/>
            <a:ext cx="8503920" cy="39228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38344" y="914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Novo Chamado</a:t>
            </a:r>
            <a:endParaRPr lang="en-US" sz="850" dirty="0"/>
          </a:p>
        </p:txBody>
      </p:sp>
      <p:graphicFrame>
        <p:nvGraphicFramePr>
          <p:cNvPr id="75" name="Tabela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485608"/>
              </p:ext>
            </p:extLst>
          </p:nvPr>
        </p:nvGraphicFramePr>
        <p:xfrm>
          <a:off x="498660" y="2072067"/>
          <a:ext cx="5943600" cy="1676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774340116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987602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Dor Operacional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Impacto no Negócio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2267417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Falta de organização centralizada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Chamados perdidos, duplicados ou ignorados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20104892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Dificuldade de acompanhamento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 dirty="0">
                          <a:effectLst/>
                        </a:rPr>
                        <a:t>Cliente não sabe o status; equipe não tem histórico</a:t>
                      </a:r>
                      <a:endParaRPr lang="pt-BR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3707999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Erros de alocação de equipe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Técnico errado atende setor errado, gerando retrabalho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25133208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Ausência de histórico documentado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Impossível auditar, medir SLA ou identificar gargalos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3569258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>
                          <a:effectLst/>
                        </a:rPr>
                        <a:t>Comunicação fragmentada</a:t>
                      </a:r>
                      <a:endParaRPr lang="pt-BR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000" dirty="0">
                          <a:effectLst/>
                        </a:rPr>
                        <a:t>Decisões tomadas por memória, não por dados</a:t>
                      </a:r>
                      <a:endParaRPr lang="pt-BR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8900" marR="88900" marT="63500" marB="63500" anchor="ctr"/>
                </a:tc>
                <a:extLst>
                  <a:ext uri="{0D108BD9-81ED-4DB2-BD59-A6C34878D82A}">
                    <a16:rowId xmlns:a16="http://schemas.microsoft.com/office/drawing/2014/main" val="2124946403"/>
                  </a:ext>
                </a:extLst>
              </a:tr>
            </a:tbl>
          </a:graphicData>
        </a:graphic>
      </p:graphicFrame>
      <p:sp>
        <p:nvSpPr>
          <p:cNvPr id="76" name="Rectangle 1"/>
          <p:cNvSpPr>
            <a:spLocks noChangeArrowheads="1"/>
          </p:cNvSpPr>
          <p:nvPr/>
        </p:nvSpPr>
        <p:spPr bwMode="auto">
          <a:xfrm>
            <a:off x="498660" y="1343887"/>
            <a:ext cx="7878424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100" b="0" i="0" u="none" strike="noStrike" cap="none" normalizeH="0" baseline="0" dirty="0" smtClean="0">
                <a:ln>
                  <a:noFill/>
                </a:ln>
                <a:solidFill>
                  <a:srgbClr val="1E203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Empresas que gerenciam pedidos e atendimentos de forma manual — via planilhas, grupos de WhatsApp, e-mails soltos ou anotações em papel — sofrem com uma série de problemas operacionais críticos que impactam diretamente a qualidade do serviço prestado e a satisfação dos clientes.</a:t>
            </a:r>
            <a:endParaRPr kumimoji="0" lang="pt-BR" altLang="pt-B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CaixaDeTexto 76"/>
          <p:cNvSpPr txBox="1"/>
          <p:nvPr/>
        </p:nvSpPr>
        <p:spPr>
          <a:xfrm>
            <a:off x="498660" y="3971045"/>
            <a:ext cx="78095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altLang="pt-BR" sz="1100" dirty="0">
                <a:solidFill>
                  <a:srgbClr val="1E2030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 soma desses fatores resulta em aumento do tempo médio de resolução (TMR), queda no índice de satisfação (CSAT) e impossibilidade de escalar a operação de suporte sem contratar mais pessoas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150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9615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493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chemeClr val="bg1"/>
                </a:solidFill>
              </a:rPr>
              <a:t>Justificativa Técnica das Tecnologias Escolhidas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AJAX: /ajax/abertura/listar.php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042416"/>
            <a:ext cx="8503920" cy="39228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38344" y="914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Novo Chamado</a:t>
            </a:r>
            <a:endParaRPr lang="en-US" sz="850" dirty="0"/>
          </a:p>
        </p:txBody>
      </p:sp>
      <p:sp>
        <p:nvSpPr>
          <p:cNvPr id="6" name="CaixaDeTexto 5"/>
          <p:cNvSpPr txBox="1"/>
          <p:nvPr/>
        </p:nvSpPr>
        <p:spPr>
          <a:xfrm>
            <a:off x="589936" y="1337187"/>
            <a:ext cx="813365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 smtClean="0"/>
              <a:t>PHP </a:t>
            </a:r>
            <a:r>
              <a:rPr lang="pt-BR" sz="1200" b="1" dirty="0"/>
              <a:t>(Back-</a:t>
            </a:r>
            <a:r>
              <a:rPr lang="pt-BR" sz="1200" b="1" dirty="0" err="1"/>
              <a:t>end</a:t>
            </a:r>
            <a:r>
              <a:rPr lang="pt-BR" sz="1200" b="1" dirty="0"/>
              <a:t>)</a:t>
            </a:r>
          </a:p>
          <a:p>
            <a:r>
              <a:rPr lang="pt-BR" sz="1200" dirty="0"/>
              <a:t>O PHP foi escolhido por ser uma linguagem madura, amplamente suportada em hospedagens compartilhadas e servidores Linux, o que garante facilidade de </a:t>
            </a:r>
            <a:r>
              <a:rPr lang="pt-BR" sz="1200" dirty="0" err="1"/>
              <a:t>deploy</a:t>
            </a:r>
            <a:r>
              <a:rPr lang="pt-BR" sz="1200" dirty="0"/>
              <a:t> sem dependências complexas. A versão utilizada (8.2) oferece recursos modernos como </a:t>
            </a:r>
            <a:r>
              <a:rPr lang="pt-BR" sz="1200" dirty="0" err="1"/>
              <a:t>tipagem</a:t>
            </a:r>
            <a:r>
              <a:rPr lang="pt-BR" sz="1200" dirty="0"/>
              <a:t> forte, </a:t>
            </a:r>
            <a:r>
              <a:rPr lang="pt-BR" sz="1200" dirty="0" err="1"/>
              <a:t>enumerations</a:t>
            </a:r>
            <a:r>
              <a:rPr lang="pt-BR" sz="1200" dirty="0"/>
              <a:t> e match </a:t>
            </a:r>
            <a:r>
              <a:rPr lang="pt-BR" sz="1200" dirty="0" err="1"/>
              <a:t>expressions</a:t>
            </a:r>
            <a:r>
              <a:rPr lang="pt-BR" sz="1200" dirty="0"/>
              <a:t>. A conexão com o banco de dados é feita via PDO (PHP Data </a:t>
            </a:r>
            <a:r>
              <a:rPr lang="pt-BR" sz="1200" dirty="0" err="1"/>
              <a:t>Objects</a:t>
            </a:r>
            <a:r>
              <a:rPr lang="pt-BR" sz="1200" dirty="0"/>
              <a:t>), que abstrai o banco de dados e protege contra injeção de SQL por meio de </a:t>
            </a:r>
            <a:r>
              <a:rPr lang="pt-BR" sz="1200" dirty="0" err="1"/>
              <a:t>prepared</a:t>
            </a:r>
            <a:r>
              <a:rPr lang="pt-BR" sz="1200" dirty="0"/>
              <a:t> </a:t>
            </a:r>
            <a:r>
              <a:rPr lang="pt-BR" sz="1200" dirty="0" err="1"/>
              <a:t>statements</a:t>
            </a:r>
            <a:r>
              <a:rPr lang="pt-BR" sz="1200" dirty="0"/>
              <a:t>. A gestão de sessões nativas do PHP, combinada com </a:t>
            </a:r>
            <a:r>
              <a:rPr lang="pt-BR" sz="1200" dirty="0" err="1"/>
              <a:t>hashing</a:t>
            </a:r>
            <a:r>
              <a:rPr lang="pt-BR" sz="1200" dirty="0"/>
              <a:t> </a:t>
            </a:r>
            <a:r>
              <a:rPr lang="pt-BR" sz="1200" dirty="0" err="1"/>
              <a:t>bcrypt</a:t>
            </a:r>
            <a:r>
              <a:rPr lang="pt-BR" sz="1200" dirty="0"/>
              <a:t> (</a:t>
            </a:r>
            <a:r>
              <a:rPr lang="pt-BR" sz="1200" dirty="0" err="1"/>
              <a:t>password_hash</a:t>
            </a:r>
            <a:r>
              <a:rPr lang="pt-BR" sz="1200" dirty="0"/>
              <a:t>), garante autenticação segura.</a:t>
            </a:r>
          </a:p>
          <a:p>
            <a:endParaRPr lang="pt-BR" sz="1200" b="1" dirty="0" smtClean="0"/>
          </a:p>
          <a:p>
            <a:r>
              <a:rPr lang="pt-BR" sz="1200" b="1" dirty="0" smtClean="0"/>
              <a:t>MySQL </a:t>
            </a:r>
            <a:r>
              <a:rPr lang="pt-BR" sz="1200" b="1" dirty="0"/>
              <a:t>/ </a:t>
            </a:r>
            <a:r>
              <a:rPr lang="pt-BR" sz="1200" b="1" dirty="0" err="1"/>
              <a:t>MariaDB</a:t>
            </a:r>
            <a:r>
              <a:rPr lang="pt-BR" sz="1200" b="1" dirty="0"/>
              <a:t> (Banco de Dados)</a:t>
            </a:r>
          </a:p>
          <a:p>
            <a:r>
              <a:rPr lang="pt-BR" sz="1200" dirty="0"/>
              <a:t>O MySQL, utilizado via </a:t>
            </a:r>
            <a:r>
              <a:rPr lang="pt-BR" sz="1200" dirty="0" err="1"/>
              <a:t>MariaDB</a:t>
            </a:r>
            <a:r>
              <a:rPr lang="pt-BR" sz="1200" dirty="0"/>
              <a:t> 10.4, é o banco de dados relacional mais popular em ambientes LAMP. O uso de </a:t>
            </a:r>
            <a:r>
              <a:rPr lang="pt-BR" sz="1200" dirty="0" err="1"/>
              <a:t>InnoDB</a:t>
            </a:r>
            <a:r>
              <a:rPr lang="pt-BR" sz="1200" dirty="0"/>
              <a:t> como </a:t>
            </a:r>
            <a:r>
              <a:rPr lang="pt-BR" sz="1200" dirty="0" err="1"/>
              <a:t>engine</a:t>
            </a:r>
            <a:r>
              <a:rPr lang="pt-BR" sz="1200" dirty="0"/>
              <a:t> garante integridade referencial por meio de chaves estrangeiras (FOREIGN KEY), suporte a transações ACID e </a:t>
            </a:r>
            <a:r>
              <a:rPr lang="pt-BR" sz="1200" dirty="0" err="1"/>
              <a:t>rollback</a:t>
            </a:r>
            <a:r>
              <a:rPr lang="pt-BR" sz="1200" dirty="0"/>
              <a:t> em caso de falha. O </a:t>
            </a:r>
            <a:r>
              <a:rPr lang="pt-BR" sz="1200" dirty="0" err="1"/>
              <a:t>charset</a:t>
            </a:r>
            <a:r>
              <a:rPr lang="pt-BR" sz="1200" dirty="0"/>
              <a:t> utf8mb4 garante suporte completo a caracteres especiais e </a:t>
            </a:r>
            <a:r>
              <a:rPr lang="pt-BR" sz="1200" dirty="0" err="1"/>
              <a:t>emojis</a:t>
            </a:r>
            <a:r>
              <a:rPr lang="pt-BR" sz="1200" dirty="0"/>
              <a:t>.</a:t>
            </a:r>
          </a:p>
          <a:p>
            <a:endParaRPr lang="pt-BR" sz="1200" b="1" dirty="0" smtClean="0"/>
          </a:p>
          <a:p>
            <a:r>
              <a:rPr lang="pt-BR" sz="1200" b="1" dirty="0" err="1" smtClean="0"/>
              <a:t>Bootstrap</a:t>
            </a:r>
            <a:r>
              <a:rPr lang="pt-BR" sz="1200" b="1" dirty="0" smtClean="0"/>
              <a:t> </a:t>
            </a:r>
            <a:r>
              <a:rPr lang="pt-BR" sz="1200" b="1" dirty="0"/>
              <a:t>5 (Front-</a:t>
            </a:r>
            <a:r>
              <a:rPr lang="pt-BR" sz="1200" b="1" dirty="0" err="1"/>
              <a:t>end</a:t>
            </a:r>
            <a:r>
              <a:rPr lang="pt-BR" sz="1200" b="1" dirty="0"/>
              <a:t>)</a:t>
            </a:r>
          </a:p>
          <a:p>
            <a:r>
              <a:rPr lang="pt-BR" sz="1200" dirty="0"/>
              <a:t>O </a:t>
            </a:r>
            <a:r>
              <a:rPr lang="pt-BR" sz="1200" dirty="0" err="1"/>
              <a:t>Bootstrap</a:t>
            </a:r>
            <a:r>
              <a:rPr lang="pt-BR" sz="1200" dirty="0"/>
              <a:t> 5 foi adotado por três razões principais: (1) Sistema de grid responsivo que adapta o layout para dispositivos móveis e desktops sem código CSS adicional; (2) Componentes prontos (modais, tabelas, </a:t>
            </a:r>
            <a:r>
              <a:rPr lang="pt-BR" sz="1200" dirty="0" err="1"/>
              <a:t>badges</a:t>
            </a:r>
            <a:r>
              <a:rPr lang="pt-BR" sz="1200" dirty="0"/>
              <a:t>, botões) que aceleram o desenvolvimento e garantem consistência visual; (3) Integração com </a:t>
            </a:r>
            <a:r>
              <a:rPr lang="pt-BR" sz="1200" dirty="0" err="1"/>
              <a:t>Bootstrap</a:t>
            </a:r>
            <a:r>
              <a:rPr lang="pt-BR" sz="1200" dirty="0"/>
              <a:t> </a:t>
            </a:r>
            <a:r>
              <a:rPr lang="pt-BR" sz="1200" dirty="0" err="1"/>
              <a:t>Icons</a:t>
            </a:r>
            <a:r>
              <a:rPr lang="pt-BR" sz="1200" dirty="0"/>
              <a:t> para ícones vetoriais sem dependência de imagens externas. O uso de variáveis CSS (--cor-primaria e --cor-secundaria) permite que as cores do sistema sejam personalizadas diretamente pelo painel de configurações, sem necessidade de alterar o código.</a:t>
            </a:r>
          </a:p>
        </p:txBody>
      </p:sp>
    </p:spTree>
    <p:extLst>
      <p:ext uri="{BB962C8B-B14F-4D97-AF65-F5344CB8AC3E}">
        <p14:creationId xmlns:p14="http://schemas.microsoft.com/office/powerpoint/2010/main" val="1169691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1  |  Login / Acesso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0" y="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Rota: /helpdesk/  &amp;  /acesso.php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120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194560" cy="397764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68680"/>
            <a:ext cx="2194560" cy="3977640"/>
          </a:xfrm>
          <a:prstGeom prst="rect">
            <a:avLst/>
          </a:prstGeom>
          <a:solidFill>
            <a:srgbClr val="4F5DA3">
              <a:alpha val="50000"/>
            </a:srgbClr>
          </a:solidFill>
          <a:ln w="12700">
            <a:solidFill>
              <a:srgbClr val="4F5DA3">
                <a:alpha val="50000"/>
              </a:srgb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8872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1920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HelpDesk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00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Digital de Chamados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2004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6517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no sistema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651760" y="13898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restrito a operadores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651760" y="1783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51760" y="2011680"/>
            <a:ext cx="2542032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697480" y="2029968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seu@email.com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651760" y="239572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651760" y="2624328"/>
            <a:ext cx="2542032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97480" y="2642616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••••••••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651760" y="299923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52928" y="298094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Lembrar meu acesso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651760" y="3291840"/>
            <a:ext cx="2542032" cy="384048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651760" y="3291840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651760" y="3794760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F5D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Esqueci minha senha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23560" y="868680"/>
            <a:ext cx="3291840" cy="1874520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623560" y="868680"/>
            <a:ext cx="3291840" cy="34747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33288" y="86868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15000" y="1252728"/>
            <a:ext cx="3108960" cy="1417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</a:t>
            </a: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senha c/ toggle 👁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Token (hidden input</a:t>
            </a:r>
            <a:r>
              <a:rPr lang="en-US" sz="90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buSzPct val="100000"/>
              <a:buChar char="•"/>
            </a:pPr>
            <a:endParaRPr lang="en-US" sz="900" dirty="0"/>
          </a:p>
          <a:p>
            <a:pPr marL="342900" indent="-342900">
              <a:buSzPct val="100000"/>
              <a:buChar char="•"/>
            </a:pPr>
            <a:endParaRPr lang="en-US" sz="900" dirty="0">
              <a:solidFill>
                <a:srgbClr val="1E20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5623560" y="2880360"/>
            <a:ext cx="3291840" cy="1874520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23560" y="2880360"/>
            <a:ext cx="3291840" cy="34747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33288" y="288036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Portal Cliente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715000" y="3264408"/>
            <a:ext cx="3108960" cy="1417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layout visual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Campo: CPF/CNPJ OU Telefone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 err="1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</a:t>
            </a:r>
            <a:r>
              <a:rPr lang="en-US" sz="90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independente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Redireciona → /</a:t>
            </a:r>
            <a:r>
              <a:rPr lang="en-US" sz="900" dirty="0" err="1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painel_cliente</a:t>
            </a:r>
            <a:r>
              <a:rPr lang="en-US" sz="90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2  |  Dashboard — Painel de Controle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/helpdesk/painel/dashboard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71600" cy="406908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HelpDesk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" y="1234440"/>
            <a:ext cx="1316736" cy="329184"/>
          </a:xfrm>
          <a:prstGeom prst="rect">
            <a:avLst/>
          </a:prstGeom>
          <a:solidFill>
            <a:srgbClr val="4F5DA3">
              <a:alpha val="50000"/>
            </a:srgbClr>
          </a:solidFill>
          <a:ln w="12700">
            <a:solidFill>
              <a:srgbClr val="4F5DA3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1618488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2002536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38658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277063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315468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538728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822960"/>
            <a:ext cx="7132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8229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822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Administrador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83080" y="1307592"/>
            <a:ext cx="1627632" cy="54864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37944" y="13441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Chamados Abertos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837944" y="153619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502152" y="1307592"/>
            <a:ext cx="1627632" cy="548640"/>
          </a:xfrm>
          <a:prstGeom prst="rect">
            <a:avLst/>
          </a:prstGeom>
          <a:solidFill>
            <a:srgbClr val="DC3545"/>
          </a:solidFill>
          <a:ln w="12700">
            <a:solidFill>
              <a:srgbClr val="DC35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57016" y="13441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57016" y="153619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221224" y="1307592"/>
            <a:ext cx="1627632" cy="548640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76088" y="13441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Abertos Hoje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276088" y="153619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940296" y="1307592"/>
            <a:ext cx="1627632" cy="548640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95160" y="13441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Atendimento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995160" y="153619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783080" y="1965960"/>
            <a:ext cx="1627632" cy="548640"/>
          </a:xfrm>
          <a:prstGeom prst="rect">
            <a:avLst/>
          </a:prstGeom>
          <a:solidFill>
            <a:srgbClr val="FD7E14"/>
          </a:solidFill>
          <a:ln w="12700">
            <a:solidFill>
              <a:srgbClr val="FD7E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37944" y="200253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Cliente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837944" y="21945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3502152" y="1965960"/>
            <a:ext cx="1627632" cy="548640"/>
          </a:xfrm>
          <a:prstGeom prst="rect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57016" y="200253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Responsável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57016" y="21945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5221224" y="1965960"/>
            <a:ext cx="1627632" cy="54864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76088" y="200253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Ativos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76088" y="21945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6940296" y="1965960"/>
            <a:ext cx="1627632" cy="548640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95160" y="2002536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Chamados no Mês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995160" y="21945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719072" y="2679192"/>
            <a:ext cx="7104888" cy="274320"/>
          </a:xfrm>
          <a:prstGeom prst="rect">
            <a:avLst/>
          </a:prstGeom>
          <a:solidFill>
            <a:srgbClr val="EEF0FB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64792" y="2679192"/>
            <a:ext cx="20116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776472" y="2679192"/>
            <a:ext cx="14630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239512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36792" y="2679192"/>
            <a:ext cx="137160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08392" y="2679192"/>
            <a:ext cx="1161288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719072" y="2990088"/>
            <a:ext cx="710488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64792" y="3026664"/>
            <a:ext cx="20116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CH20260224-96E29B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3776472" y="3026664"/>
            <a:ext cx="146304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 </a:t>
            </a:r>
            <a:r>
              <a:rPr lang="en-US" sz="85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239512" y="3044952"/>
            <a:ext cx="1005840" cy="201168"/>
          </a:xfrm>
          <a:prstGeom prst="rect">
            <a:avLst/>
          </a:prstGeom>
          <a:solidFill>
            <a:srgbClr val="DC3545">
              <a:alpha val="18000"/>
            </a:srgbClr>
          </a:solidFill>
          <a:ln w="12700">
            <a:solidFill>
              <a:srgbClr val="DC3545">
                <a:alpha val="4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39512" y="30449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336792" y="3044952"/>
            <a:ext cx="1280160" cy="201168"/>
          </a:xfrm>
          <a:prstGeom prst="rect">
            <a:avLst/>
          </a:prstGeom>
          <a:solidFill>
            <a:srgbClr val="6F42C1">
              <a:alpha val="18000"/>
            </a:srgbClr>
          </a:solidFill>
          <a:ln w="12700">
            <a:solidFill>
              <a:srgbClr val="6F42C1">
                <a:alpha val="4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3679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análise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08392" y="3026664"/>
            <a:ext cx="1161288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719072" y="3319272"/>
            <a:ext cx="7104888" cy="310896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64792" y="3355848"/>
            <a:ext cx="20116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CH20260224-BEF7DD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776472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239512" y="3374136"/>
            <a:ext cx="1005840" cy="201168"/>
          </a:xfrm>
          <a:prstGeom prst="rect">
            <a:avLst/>
          </a:prstGeom>
          <a:solidFill>
            <a:srgbClr val="FD7E14">
              <a:alpha val="18000"/>
            </a:srgbClr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39512" y="33741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336792" y="3374136"/>
            <a:ext cx="1280160" cy="201168"/>
          </a:xfrm>
          <a:prstGeom prst="rect">
            <a:avLst/>
          </a:prstGeom>
          <a:solidFill>
            <a:srgbClr val="20C997">
              <a:alpha val="18000"/>
            </a:srgbClr>
          </a:solidFill>
          <a:ln w="12700">
            <a:solidFill>
              <a:srgbClr val="20C997">
                <a:alpha val="4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36792" y="337413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20C9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atendimento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708392" y="3355848"/>
            <a:ext cx="1161288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João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719072" y="3648456"/>
            <a:ext cx="710488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64792" y="3685032"/>
            <a:ext cx="20116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CH20260223-FE8D61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776472" y="3685032"/>
            <a:ext cx="146304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239512" y="3703320"/>
            <a:ext cx="1005840" cy="201168"/>
          </a:xfrm>
          <a:prstGeom prst="rect">
            <a:avLst/>
          </a:prstGeom>
          <a:solidFill>
            <a:srgbClr val="0D6EFD">
              <a:alpha val="18000"/>
            </a:srgbClr>
          </a:solidFill>
          <a:ln w="12700">
            <a:solidFill>
              <a:srgbClr val="0D6EFD">
                <a:alpha val="4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39512" y="37033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6336792" y="3703320"/>
            <a:ext cx="1280160" cy="201168"/>
          </a:xfrm>
          <a:prstGeom prst="rect">
            <a:avLst/>
          </a:prstGeom>
          <a:solidFill>
            <a:srgbClr val="FD7E14">
              <a:alpha val="18000"/>
            </a:srgbClr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336792" y="3703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708392" y="3685032"/>
            <a:ext cx="1161288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3  |  Abertura / Listagem de Chamados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AJAX: /ajax/abertura/listar.php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Abertura de Chamados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38344" y="914400"/>
            <a:ext cx="1170432" cy="25603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38344" y="914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Novo Chamado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0216" y="914400"/>
            <a:ext cx="11704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0216" y="914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Limpar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562088" y="914400"/>
            <a:ext cx="11704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62088" y="914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Relatório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1335024"/>
            <a:ext cx="8503920" cy="384048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133502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05840" y="1417320"/>
            <a:ext cx="1097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14173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31136" y="1417320"/>
            <a:ext cx="1097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14173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56432" y="1417320"/>
            <a:ext cx="1097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11296" y="14173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1417320"/>
            <a:ext cx="1097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36592" y="14173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07024" y="1417320"/>
            <a:ext cx="237744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61888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Protocolo, assunto, cliente...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" y="1792224"/>
            <a:ext cx="8503920" cy="292608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1792224"/>
            <a:ext cx="13258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09928" y="1792224"/>
            <a:ext cx="118872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898648" y="1792224"/>
            <a:ext cx="105156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950208" y="1792224"/>
            <a:ext cx="54864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98848" y="1792224"/>
            <a:ext cx="82296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321808" y="1792224"/>
            <a:ext cx="107899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0" y="1792224"/>
            <a:ext cx="91440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Criado em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0" y="1792224"/>
            <a:ext cx="1481328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0040" y="2103120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139696"/>
            <a:ext cx="1325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CH20260224-96E29B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1709928" y="2139696"/>
            <a:ext cx="11887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 </a:t>
            </a:r>
            <a:r>
              <a:rPr lang="en-US" sz="75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750" dirty="0"/>
          </a:p>
          <a:p>
            <a:pPr marL="0" indent="0">
              <a:buNone/>
            </a:pPr>
            <a:r>
              <a:rPr lang="en-US" sz="75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(47) </a:t>
            </a:r>
            <a:r>
              <a:rPr lang="en-US" sz="7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97527-5084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898648" y="2139696"/>
            <a:ext cx="105156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TESSSTT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968496" y="2194560"/>
            <a:ext cx="512064" cy="237744"/>
          </a:xfrm>
          <a:prstGeom prst="rect">
            <a:avLst/>
          </a:prstGeom>
          <a:solidFill>
            <a:srgbClr val="DC3545">
              <a:alpha val="18000"/>
            </a:srgbClr>
          </a:solidFill>
          <a:ln w="12700">
            <a:solidFill>
              <a:srgbClr val="DC3545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68496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17136" y="2194560"/>
            <a:ext cx="786384" cy="237744"/>
          </a:xfrm>
          <a:prstGeom prst="rect">
            <a:avLst/>
          </a:prstGeom>
          <a:solidFill>
            <a:srgbClr val="6F42C1">
              <a:alpha val="18000"/>
            </a:srgbClr>
          </a:solidFill>
          <a:ln w="12700">
            <a:solidFill>
              <a:srgbClr val="6F42C1">
                <a:alpha val="4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17136" y="21945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análise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321808" y="2139696"/>
            <a:ext cx="1078992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20040" y="2560320"/>
            <a:ext cx="8503920" cy="420624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2596896"/>
            <a:ext cx="1325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CH20260224-BEF7DD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709928" y="2596896"/>
            <a:ext cx="11887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2898648" y="2596896"/>
            <a:ext cx="105156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tttttttttttt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968496" y="2651760"/>
            <a:ext cx="512064" cy="237744"/>
          </a:xfrm>
          <a:prstGeom prst="rect">
            <a:avLst/>
          </a:prstGeom>
          <a:solidFill>
            <a:srgbClr val="0D6EFD">
              <a:alpha val="18000"/>
            </a:srgbClr>
          </a:solidFill>
          <a:ln w="12700">
            <a:solidFill>
              <a:srgbClr val="0D6EFD">
                <a:alpha val="4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68496" y="26517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517136" y="2651760"/>
            <a:ext cx="786384" cy="237744"/>
          </a:xfrm>
          <a:prstGeom prst="rect">
            <a:avLst/>
          </a:prstGeom>
          <a:solidFill>
            <a:srgbClr val="0D6EFD">
              <a:alpha val="18000"/>
            </a:srgbClr>
          </a:solidFill>
          <a:ln w="12700">
            <a:solidFill>
              <a:srgbClr val="0D6EFD">
                <a:alpha val="4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17136" y="26517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321808" y="2596896"/>
            <a:ext cx="1078992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0040" y="3017520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84048" y="3054096"/>
            <a:ext cx="1325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CH20260223-FE8D61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709928" y="3054096"/>
            <a:ext cx="118872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2898648" y="3054096"/>
            <a:ext cx="105156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acesso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968496" y="3108960"/>
            <a:ext cx="512064" cy="237744"/>
          </a:xfrm>
          <a:prstGeom prst="rect">
            <a:avLst/>
          </a:prstGeom>
          <a:solidFill>
            <a:srgbClr val="FD7E14">
              <a:alpha val="18000"/>
            </a:srgbClr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8496" y="31089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517136" y="3108960"/>
            <a:ext cx="786384" cy="237744"/>
          </a:xfrm>
          <a:prstGeom prst="rect">
            <a:avLst/>
          </a:prstGeom>
          <a:solidFill>
            <a:srgbClr val="FD7E14">
              <a:alpha val="18000"/>
            </a:srgbClr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17136" y="31089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321808" y="3054096"/>
            <a:ext cx="1078992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João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669280" y="822960"/>
            <a:ext cx="31546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669280" y="822960"/>
            <a:ext cx="3154680" cy="34747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0720" y="822960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— Novo Chamado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742432" y="1207008"/>
            <a:ext cx="3017520" cy="2633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CPF/CNPJ → busca AJAX automática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Auto-fill: Nome, E-mail, Telefone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 (varchar 120)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 (textarea)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(select)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(filtrado por permissão)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(filtrado por setor)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gerado automaticamente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4  |  Detalhe / Timeline do Chamado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0" y="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/chamado/{PROTOCOLO}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886968"/>
            <a:ext cx="2011680" cy="219456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86968"/>
            <a:ext cx="1975104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CH20260224-96E29B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487168" y="8412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TESSSTT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905256"/>
            <a:ext cx="1463040" cy="201168"/>
          </a:xfrm>
          <a:prstGeom prst="rect">
            <a:avLst/>
          </a:prstGeom>
          <a:solidFill>
            <a:srgbClr val="DC3545">
              <a:alpha val="18000"/>
            </a:srgbClr>
          </a:solidFill>
          <a:ln w="12700">
            <a:solidFill>
              <a:srgbClr val="DC3545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9052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Urgente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040" y="1234440"/>
            <a:ext cx="557784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2984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Histórico do Chamado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" y="1645920"/>
            <a:ext cx="310896" cy="310896"/>
          </a:xfrm>
          <a:prstGeom prst="ellipse">
            <a:avLst/>
          </a:prstGeom>
          <a:solidFill>
            <a:srgbClr val="6F42C1">
              <a:alpha val="20000"/>
            </a:srgbClr>
          </a:solidFill>
          <a:ln w="12700">
            <a:solidFill>
              <a:srgbClr val="6F42C1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975104"/>
            <a:ext cx="0" cy="475488"/>
          </a:xfrm>
          <a:prstGeom prst="line">
            <a:avLst/>
          </a:prstGeom>
          <a:noFill/>
          <a:ln w="12700">
            <a:solidFill>
              <a:srgbClr val="E2E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16459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Administrador  ·  24/02/26 14:04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2960" y="1865376"/>
            <a:ext cx="4937760" cy="457200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1892808"/>
            <a:ext cx="4828032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 aberto com status: Em análise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8912" y="2450592"/>
            <a:ext cx="310896" cy="310896"/>
          </a:xfrm>
          <a:prstGeom prst="ellipse">
            <a:avLst/>
          </a:prstGeom>
          <a:solidFill>
            <a:srgbClr val="198754">
              <a:alpha val="20000"/>
            </a:srgbClr>
          </a:solidFill>
          <a:ln w="12700">
            <a:solidFill>
              <a:srgbClr val="198754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2779776"/>
            <a:ext cx="0" cy="475488"/>
          </a:xfrm>
          <a:prstGeom prst="line">
            <a:avLst/>
          </a:prstGeom>
          <a:noFill/>
          <a:ln w="12700">
            <a:solidFill>
              <a:srgbClr val="E2E5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4505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João  ·  24/02/26 14:15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22960" y="2670048"/>
            <a:ext cx="4937760" cy="457200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2697480"/>
            <a:ext cx="4828032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Verificando o problema. Aguarde nosso retorno.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8912" y="3255264"/>
            <a:ext cx="310896" cy="310896"/>
          </a:xfrm>
          <a:prstGeom prst="ellipse">
            <a:avLst/>
          </a:prstGeom>
          <a:solidFill>
            <a:srgbClr val="0D6EFD">
              <a:alpha val="20000"/>
            </a:srgbClr>
          </a:solidFill>
          <a:ln w="12700">
            <a:solidFill>
              <a:srgbClr val="0D6EFD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32552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25526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 </a:t>
            </a:r>
            <a:r>
              <a:rPr lang="en-US" sz="800" dirty="0" smtClean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 </a:t>
            </a: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24/02/26 14:50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22960" y="3474720"/>
            <a:ext cx="4937760" cy="457200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502152"/>
            <a:ext cx="4828032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Ok, obrigado. Fico aguardando!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52852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151376"/>
            <a:ext cx="32004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resposta...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25696" y="4224528"/>
            <a:ext cx="822960" cy="25603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25696" y="42245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8640" y="4617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📎 Anexar (máx. 12MB: PDF, DOC, XLS, PNG, ZIP...)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989320" y="1234440"/>
            <a:ext cx="2834640" cy="3584448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1298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Informações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08192" y="1645920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108192" y="1837944"/>
            <a:ext cx="1280160" cy="219456"/>
          </a:xfrm>
          <a:prstGeom prst="rect">
            <a:avLst/>
          </a:prstGeom>
          <a:solidFill>
            <a:srgbClr val="6F42C1">
              <a:alpha val="18000"/>
            </a:srgbClr>
          </a:solidFill>
          <a:ln w="12700">
            <a:solidFill>
              <a:srgbClr val="6F42C1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08192" y="18379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análise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08192" y="2157984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08192" y="234086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Teste </a:t>
            </a:r>
            <a:r>
              <a:rPr lang="en-US" sz="900" b="1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08192" y="2670048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108192" y="2852928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João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8192" y="3182112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108192" y="3364992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108192" y="3694176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 EM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108192" y="3877056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24/02/26 · 14:04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08192" y="42519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rápidas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108192" y="4507992"/>
            <a:ext cx="2615184" cy="256032"/>
          </a:xfrm>
          <a:prstGeom prst="rect">
            <a:avLst/>
          </a:prstGeom>
          <a:solidFill>
            <a:srgbClr val="EEF0FB"/>
          </a:solidFill>
          <a:ln w="12700">
            <a:solidFill>
              <a:srgbClr val="4F5DA3">
                <a:alpha val="4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08192" y="450799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F5D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 Alterar Status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08192" y="4800600"/>
            <a:ext cx="2615184" cy="256032"/>
          </a:xfrm>
          <a:prstGeom prst="rect">
            <a:avLst/>
          </a:prstGeom>
          <a:solidFill>
            <a:srgbClr val="FFF8E1"/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08192" y="480060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Alterar Prioridade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8192" y="5093208"/>
            <a:ext cx="2615184" cy="256032"/>
          </a:xfrm>
          <a:prstGeom prst="rect">
            <a:avLst/>
          </a:prstGeom>
          <a:solidFill>
            <a:srgbClr val="E9F5EE"/>
          </a:solidFill>
          <a:ln w="12700">
            <a:solidFill>
              <a:srgbClr val="198754">
                <a:alpha val="4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8192" y="5093208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Encerrar Chamado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5  |  Portal do Cliente (Acesso Externo)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675120" y="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/painel_cliente/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554480" cy="397764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96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HelpDesk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2435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B7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CLIENTE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47472" y="1481328"/>
            <a:ext cx="1499616" cy="329184"/>
          </a:xfrm>
          <a:prstGeom prst="rect">
            <a:avLst/>
          </a:prstGeom>
          <a:solidFill>
            <a:srgbClr val="4F5DA3">
              <a:alpha val="50000"/>
            </a:srgbClr>
          </a:solidFill>
          <a:ln w="12700">
            <a:solidFill>
              <a:srgbClr val="4F5DA3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481328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Meus Chamados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446227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🚪 Sair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938528" y="822960"/>
            <a:ext cx="688543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48256" y="9144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Meus Chamados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534656" y="950976"/>
            <a:ext cx="1170432" cy="256032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34656" y="9509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Abrir Chamado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93392" y="1316736"/>
            <a:ext cx="6766560" cy="274320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48256" y="1316736"/>
            <a:ext cx="14630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11296" y="1316736"/>
            <a:ext cx="1353312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64608" y="1316736"/>
            <a:ext cx="768096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32704" y="1316736"/>
            <a:ext cx="10058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638544" y="1316736"/>
            <a:ext cx="1353312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 em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991856" y="1316736"/>
            <a:ext cx="658368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993392" y="1627632"/>
            <a:ext cx="67665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48256" y="1664208"/>
            <a:ext cx="146304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CH20260225-AB1234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11296" y="1664208"/>
            <a:ext cx="1353312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no acesso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882896" y="1719072"/>
            <a:ext cx="731520" cy="219456"/>
          </a:xfrm>
          <a:prstGeom prst="rect">
            <a:avLst/>
          </a:prstGeom>
          <a:solidFill>
            <a:srgbClr val="0D6EFD">
              <a:alpha val="18000"/>
            </a:srgbClr>
          </a:solidFill>
          <a:ln w="12700">
            <a:solidFill>
              <a:srgbClr val="0D6EFD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719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650992" y="1719072"/>
            <a:ext cx="969264" cy="219456"/>
          </a:xfrm>
          <a:prstGeom prst="rect">
            <a:avLst/>
          </a:prstGeom>
          <a:solidFill>
            <a:srgbClr val="0D6EFD">
              <a:alpha val="18000"/>
            </a:srgbClr>
          </a:solidFill>
          <a:ln w="12700">
            <a:solidFill>
              <a:srgbClr val="0D6EFD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719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638544" y="1664208"/>
            <a:ext cx="1353312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25/02/26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028432" y="1719072"/>
            <a:ext cx="585216" cy="219456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28432" y="1719072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F5D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Ver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993392" y="2048256"/>
            <a:ext cx="6766560" cy="384048"/>
          </a:xfrm>
          <a:prstGeom prst="rect">
            <a:avLst/>
          </a:prstGeom>
          <a:solidFill>
            <a:srgbClr val="F8F9FC"/>
          </a:solidFill>
          <a:ln w="12700">
            <a:solidFill>
              <a:srgbClr val="E2E5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48256" y="2084832"/>
            <a:ext cx="146304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CH20260225-CD5678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511296" y="2084832"/>
            <a:ext cx="1353312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 sobre fatura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82896" y="2139696"/>
            <a:ext cx="731520" cy="219456"/>
          </a:xfrm>
          <a:prstGeom prst="rect">
            <a:avLst/>
          </a:prstGeom>
          <a:solidFill>
            <a:srgbClr val="6C757D">
              <a:alpha val="18000"/>
            </a:srgbClr>
          </a:solidFill>
          <a:ln w="12700">
            <a:solidFill>
              <a:srgbClr val="6C757D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650992" y="2139696"/>
            <a:ext cx="969264" cy="219456"/>
          </a:xfrm>
          <a:prstGeom prst="rect">
            <a:avLst/>
          </a:prstGeom>
          <a:solidFill>
            <a:srgbClr val="FD7E14">
              <a:alpha val="18000"/>
            </a:srgbClr>
          </a:solidFill>
          <a:ln w="12700">
            <a:solidFill>
              <a:srgbClr val="FD7E14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50992" y="2139696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D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638544" y="2084832"/>
            <a:ext cx="1353312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25/02/26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028432" y="2139696"/>
            <a:ext cx="585216" cy="219456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28432" y="2139696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F5D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Ver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993392" y="2505456"/>
            <a:ext cx="6766560" cy="347472"/>
          </a:xfrm>
          <a:prstGeom prst="rect">
            <a:avLst/>
          </a:prstGeom>
          <a:solidFill>
            <a:srgbClr val="FFF8E1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93392" y="2505456"/>
            <a:ext cx="54864" cy="347472"/>
          </a:xfrm>
          <a:prstGeom prst="rect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03120" y="2523744"/>
            <a:ext cx="658368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Cliente vê apenas SEUS chamados (filtro por cliente_id da sessão). 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993392" y="2926080"/>
            <a:ext cx="6766560" cy="658368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93392" y="2926080"/>
            <a:ext cx="2286000" cy="658368"/>
          </a:xfrm>
          <a:prstGeom prst="rect">
            <a:avLst/>
          </a:prstGeom>
          <a:solidFill>
            <a:srgbClr val="4F5DA3">
              <a:alpha val="80000"/>
            </a:srgbClr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66544" y="2962656"/>
            <a:ext cx="2139696" cy="58521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 vs. Painel Operador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389120" y="2962656"/>
            <a:ext cx="4279392" cy="58521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Menu: somente 'Abertura de Chamados'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PHP separada (cliente_id)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SQL automático por cliente_id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 a Logs, Usuários, Backup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internas (visivel_cliente='Nao') ocultas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993392" y="3657600"/>
            <a:ext cx="6766560" cy="658368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93392" y="3657600"/>
            <a:ext cx="2286000" cy="658368"/>
          </a:xfrm>
          <a:prstGeom prst="rect">
            <a:avLst/>
          </a:prstGeom>
          <a:solidFill>
            <a:srgbClr val="4F5DA3">
              <a:alpha val="80000"/>
            </a:srgbClr>
          </a:solidFill>
          <a:ln w="12700">
            <a:solidFill>
              <a:srgbClr val="4F5DA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66544" y="3694176"/>
            <a:ext cx="2139696" cy="58521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Abertura (Portal)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89120" y="3694176"/>
            <a:ext cx="4279392" cy="58521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 já vem da sessão (sem redigitar)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Assunto, Descrição, Prioridade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gerado automaticamente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Detalhe: rota pública /chamado/{PROTO}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identidade visual do painel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6  |  Gestão de Clientes, Usuários e Cadastros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2608" y="84124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841248"/>
            <a:ext cx="2834640" cy="420624"/>
          </a:xfrm>
          <a:prstGeom prst="rect">
            <a:avLst/>
          </a:prstGeom>
          <a:solidFill>
            <a:srgbClr val="4F5DA3"/>
          </a:solidFill>
          <a:ln w="12700">
            <a:solidFill>
              <a:srgbClr val="4F5DA3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1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8778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Clientes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115568"/>
            <a:ext cx="2322576" cy="128016"/>
          </a:xfrm>
          <a:prstGeom prst="rect">
            <a:avLst/>
          </a:prstGeom>
          <a:solidFill>
            <a:srgbClr val="4F5DA3">
              <a:alpha val="50000"/>
            </a:srgbClr>
          </a:solidFill>
          <a:ln w="12700">
            <a:solidFill>
              <a:srgbClr val="4F5DA3">
                <a:alpha val="5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11556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/painel/clientes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384048" y="129844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(criar, editar, excluir)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Busca: nome / e-mail / CPF / CNPJ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Importação em lote via XLSX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XLSX com colunas mapeadas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perfil | Histórico de chamados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84124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46120" y="841248"/>
            <a:ext cx="2834640" cy="420624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89611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85032" y="8778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Usuários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685032" y="1115568"/>
            <a:ext cx="2322576" cy="128016"/>
          </a:xfrm>
          <a:prstGeom prst="rect">
            <a:avLst/>
          </a:prstGeom>
          <a:solidFill>
            <a:srgbClr val="6F42C1">
              <a:alpha val="50000"/>
            </a:srgbClr>
          </a:solidFill>
          <a:ln w="12700">
            <a:solidFill>
              <a:srgbClr val="6F42C1">
                <a:alpha val="5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685032" y="111556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/painel/usuarios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3337560" y="129844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Níveis: Admin / Atendente / Comum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perfil + assinatura digital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por módulo (usuarios_permissoes)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Alocação por setores (usuarios_setores)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bcrypt ($2y$10$...)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99632" y="84124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99632" y="841248"/>
            <a:ext cx="2834640" cy="420624"/>
          </a:xfrm>
          <a:prstGeom prst="rect">
            <a:avLst/>
          </a:prstGeom>
          <a:solidFill>
            <a:srgbClr val="20C997"/>
          </a:solidFill>
          <a:ln w="12700">
            <a:solidFill>
              <a:srgbClr val="20C997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896112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638544" y="8778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Status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638544" y="1115568"/>
            <a:ext cx="2322576" cy="128016"/>
          </a:xfrm>
          <a:prstGeom prst="rect">
            <a:avLst/>
          </a:prstGeom>
          <a:solidFill>
            <a:srgbClr val="20C997">
              <a:alpha val="50000"/>
            </a:srgbClr>
          </a:solidFill>
          <a:ln w="12700">
            <a:solidFill>
              <a:srgbClr val="20C997">
                <a:alpha val="5000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638544" y="111556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/painel/status_abertura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6291072" y="129844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nome, cor hex, ordem, flags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'padrão': status inicial do chamado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'fechado': encerra o ciclo de vida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status padrão configurados no banco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292608" y="285292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292608" y="2852928"/>
            <a:ext cx="2834640" cy="420624"/>
          </a:xfrm>
          <a:prstGeom prst="rect">
            <a:avLst/>
          </a:prstGeom>
          <a:solidFill>
            <a:srgbClr val="FD7E14"/>
          </a:solidFill>
          <a:ln w="12700">
            <a:solidFill>
              <a:srgbClr val="FD7E14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2907792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31520" y="28895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Logs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31520" y="3127248"/>
            <a:ext cx="2322576" cy="128016"/>
          </a:xfrm>
          <a:prstGeom prst="rect">
            <a:avLst/>
          </a:prstGeom>
          <a:solidFill>
            <a:srgbClr val="FD7E14">
              <a:alpha val="50000"/>
            </a:srgbClr>
          </a:solidFill>
          <a:ln w="12700">
            <a:solidFill>
              <a:srgbClr val="FD7E14">
                <a:alpha val="50000"/>
              </a:srgbClr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31520" y="312724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/painel/logs</a:t>
            </a:r>
            <a:endParaRPr lang="en-US" sz="700" dirty="0"/>
          </a:p>
        </p:txBody>
      </p:sp>
      <p:sp>
        <p:nvSpPr>
          <p:cNvPr id="31" name="Text 25"/>
          <p:cNvSpPr/>
          <p:nvPr/>
        </p:nvSpPr>
        <p:spPr>
          <a:xfrm>
            <a:off x="384048" y="331012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Ações: login, logout, inserir, editar, excluir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 / usuário / ação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Registra: IP, User-Agent, URL, timestamp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em PDF (relatório server-side)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3246120" y="285292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3246120" y="2852928"/>
            <a:ext cx="2834640" cy="42062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2907792"/>
            <a:ext cx="310896" cy="31089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685032" y="28895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Setores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3685032" y="3127248"/>
            <a:ext cx="2322576" cy="128016"/>
          </a:xfrm>
          <a:prstGeom prst="rect">
            <a:avLst/>
          </a:prstGeom>
          <a:solidFill>
            <a:srgbClr val="198754">
              <a:alpha val="50000"/>
            </a:srgbClr>
          </a:solidFill>
          <a:ln w="12700">
            <a:solidFill>
              <a:srgbClr val="198754">
                <a:alpha val="50000"/>
              </a:srgbClr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3685032" y="312724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/painel/setores</a:t>
            </a:r>
            <a:endParaRPr lang="en-US" sz="700" dirty="0"/>
          </a:p>
        </p:txBody>
      </p:sp>
      <p:sp>
        <p:nvSpPr>
          <p:cNvPr id="38" name="Text 31"/>
          <p:cNvSpPr/>
          <p:nvPr/>
        </p:nvSpPr>
        <p:spPr>
          <a:xfrm>
            <a:off x="3337560" y="331012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setores pré-cadastrados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Técnico, Financeiro, TI...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Atribuição técnico ↔ </a:t>
            </a:r>
            <a:r>
              <a:rPr lang="en-US" sz="850" dirty="0" err="1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</a:t>
            </a: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50" dirty="0" smtClean="0">
              <a:solidFill>
                <a:srgbClr val="1E20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850" dirty="0" smtClean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</a:t>
            </a: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adicionar novos setores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6199632" y="2852928"/>
            <a:ext cx="2834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6199632" y="2852928"/>
            <a:ext cx="2834640" cy="420624"/>
          </a:xfrm>
          <a:prstGeom prst="rect">
            <a:avLst/>
          </a:prstGeom>
          <a:solidFill>
            <a:srgbClr val="DC3545"/>
          </a:solidFill>
          <a:ln w="12700">
            <a:solidFill>
              <a:srgbClr val="DC3545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2907792"/>
            <a:ext cx="310896" cy="31089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638544" y="28895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Backup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6638544" y="3127248"/>
            <a:ext cx="2322576" cy="128016"/>
          </a:xfrm>
          <a:prstGeom prst="rect">
            <a:avLst/>
          </a:prstGeom>
          <a:solidFill>
            <a:srgbClr val="DC3545">
              <a:alpha val="50000"/>
            </a:srgbClr>
          </a:solidFill>
          <a:ln w="12700">
            <a:solidFill>
              <a:srgbClr val="DC3545">
                <a:alpha val="50000"/>
              </a:srgbClr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6638544" y="3127248"/>
            <a:ext cx="2322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/painel/backup</a:t>
            </a:r>
            <a:endParaRPr lang="en-US" sz="700" dirty="0"/>
          </a:p>
        </p:txBody>
      </p:sp>
      <p:sp>
        <p:nvSpPr>
          <p:cNvPr id="45" name="Text 37"/>
          <p:cNvSpPr/>
          <p:nvPr/>
        </p:nvSpPr>
        <p:spPr>
          <a:xfrm>
            <a:off x="6291072" y="3310128"/>
            <a:ext cx="2651760" cy="13533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.sql via PHP/PDO (sem mysqldump)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CREATE TABLE + INSERT INTO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 backup_{banco}_{data}.sql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backups com data/hora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3463"/>
          </a:solidFill>
          <a:ln w="12700">
            <a:solidFill>
              <a:srgbClr val="2D34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DE CORES  &amp;  FLUXO DO CHAMADO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dos Chamados (tabela chamados_status)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52144"/>
            <a:ext cx="135331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#0D6EFD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65760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810512" y="1152144"/>
            <a:ext cx="1353312" cy="457200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0512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#6F42C1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810512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análise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55264" y="1152144"/>
            <a:ext cx="1353312" cy="457200"/>
          </a:xfrm>
          <a:prstGeom prst="rect">
            <a:avLst/>
          </a:prstGeom>
          <a:solidFill>
            <a:srgbClr val="20C997"/>
          </a:solidFill>
          <a:ln w="12700">
            <a:solidFill>
              <a:srgbClr val="20C9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55264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#20C997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55264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atendimento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00016" y="1152144"/>
            <a:ext cx="1353312" cy="457200"/>
          </a:xfrm>
          <a:prstGeom prst="rect">
            <a:avLst/>
          </a:prstGeom>
          <a:solidFill>
            <a:srgbClr val="FD7E14"/>
          </a:solidFill>
          <a:ln w="12700">
            <a:solidFill>
              <a:srgbClr val="FD7E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0016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#FD7E14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00016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cliente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44768" y="1152144"/>
            <a:ext cx="1353312" cy="457200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#198754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144768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589520" y="1152144"/>
            <a:ext cx="1353312" cy="457200"/>
          </a:xfrm>
          <a:prstGeom prst="rect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115214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#6C757D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89520" y="142646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65760" y="1719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1993392"/>
            <a:ext cx="2066544" cy="420624"/>
          </a:xfrm>
          <a:prstGeom prst="rect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99339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#6C757D  ·  Baixa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23744" y="1993392"/>
            <a:ext cx="2066544" cy="420624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23744" y="199339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#0D6EFD  ·  Média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81728" y="1993392"/>
            <a:ext cx="2066544" cy="420624"/>
          </a:xfrm>
          <a:prstGeom prst="rect">
            <a:avLst/>
          </a:prstGeom>
          <a:solidFill>
            <a:srgbClr val="FD7E14"/>
          </a:solidFill>
          <a:ln w="12700">
            <a:solidFill>
              <a:srgbClr val="FD7E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81728" y="199339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#FD7E14  ·  Alta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39712" y="1993392"/>
            <a:ext cx="2066544" cy="420624"/>
          </a:xfrm>
          <a:prstGeom prst="rect">
            <a:avLst/>
          </a:prstGeom>
          <a:solidFill>
            <a:srgbClr val="DC3545"/>
          </a:solidFill>
          <a:ln w="12700">
            <a:solidFill>
              <a:srgbClr val="DC35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39712" y="199339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#DC3545  ·  Urgente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40416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do Protocolo Único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31520" y="4343400"/>
            <a:ext cx="512064" cy="420624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434340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31520" y="4581144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Prefixo fixo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335024" y="4343400"/>
            <a:ext cx="585216" cy="420624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35024" y="43434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335024" y="458114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011680" y="4343400"/>
            <a:ext cx="438912" cy="420624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0" y="4343400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2011680" y="458114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542032" y="4343400"/>
            <a:ext cx="438912" cy="420624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42032" y="4343400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2542032" y="458114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072384" y="4343400"/>
            <a:ext cx="237744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72384" y="4343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–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401568" y="4343400"/>
            <a:ext cx="950976" cy="420624"/>
          </a:xfrm>
          <a:prstGeom prst="rect">
            <a:avLst/>
          </a:prstGeom>
          <a:solidFill>
            <a:srgbClr val="EEF0FB"/>
          </a:solidFill>
          <a:ln w="12700">
            <a:solidFill>
              <a:srgbClr val="C5C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401568" y="4343400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5D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96E29B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401568" y="4581144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 aleatório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4626864" y="4407408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Gerado via: 'CH' + date('Ymd') + '-' + strtoupper(substr(md5(uniqid()),0,6))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1297</Words>
  <Application>Microsoft Office PowerPoint</Application>
  <PresentationFormat>Apresentação na tela (16:9)</PresentationFormat>
  <Paragraphs>303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HelpDesk — Guia de Demonstração Visual (Figma)</dc:title>
  <dc:subject>PptxGenJS Presentation</dc:subject>
  <dc:creator>Sistema HelpDesk</dc:creator>
  <cp:lastModifiedBy>ANA PAULA DOS REIS</cp:lastModifiedBy>
  <cp:revision>6</cp:revision>
  <dcterms:created xsi:type="dcterms:W3CDTF">2026-05-25T12:45:14Z</dcterms:created>
  <dcterms:modified xsi:type="dcterms:W3CDTF">2026-05-25T20:51:13Z</dcterms:modified>
</cp:coreProperties>
</file>